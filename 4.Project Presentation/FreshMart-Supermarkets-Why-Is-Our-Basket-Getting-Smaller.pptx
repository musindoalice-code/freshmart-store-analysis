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arlow Bold" panose="020B0604020202020204" charset="0"/>
      <p:regular r:id="rId13"/>
    </p:embeddedFont>
    <p:embeddedFont>
      <p:font typeface="Barlow Light" panose="00000400000000000000" pitchFamily="2" charset="0"/>
      <p:regular r:id="rId14"/>
    </p:embeddedFont>
    <p:embeddedFont>
      <p:font typeface="Montserrat" panose="00000500000000000000" pitchFamily="2" charset="0"/>
      <p:regular r:id="rId15"/>
    </p:embeddedFont>
    <p:embeddedFont>
      <p:font typeface="Montserrat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049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918369"/>
            <a:ext cx="2089594" cy="274241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740153" y="972443"/>
            <a:ext cx="248268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 BUSINESS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1908" y="1264741"/>
            <a:ext cx="10927878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FreshMart Supermarkets — Why Is Our Basket Getting Smaller?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31908" y="2723356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Evidence-led diagnosis and recommended actions for retail leadership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1908" y="3260427"/>
            <a:ext cx="10927878" cy="25400"/>
          </a:xfrm>
          <a:prstGeom prst="roundRect">
            <a:avLst>
              <a:gd name="adj" fmla="val 49999"/>
            </a:avLst>
          </a:prstGeom>
          <a:solidFill>
            <a:srgbClr val="384653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31908" y="3696395"/>
            <a:ext cx="334854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Scope: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64,330 transactions · 42 stores · Gauteng, Western Cape &amp; KwaZulu-Natal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27328" y="3696395"/>
            <a:ext cx="395813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Formats: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Large · Medium · Express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2747" y="3696395"/>
            <a:ext cx="395813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Period: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January – December 2025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1908" y="4928691"/>
            <a:ext cx="10927878" cy="1010841"/>
          </a:xfrm>
          <a:prstGeom prst="roundRect">
            <a:avLst>
              <a:gd name="adj" fmla="val 26792"/>
            </a:avLst>
          </a:prstGeom>
          <a:solidFill>
            <a:srgbClr val="D4E9F7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83" y="5186759"/>
            <a:ext cx="225618" cy="18047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18475" y="5154216"/>
            <a:ext cx="1016083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Sample transactions — figures are not FreshMart's exact chain turnover. All monetary values in South African Rand (R).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752277"/>
            <a:ext cx="1666734" cy="246856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729339" y="800993"/>
            <a:ext cx="2081458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HEADLINE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1908" y="1057573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More Transactions. Smaller Baskets.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31908" y="1811338"/>
            <a:ext cx="11537463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Footfall is growing, but value per trip is weakening — the core retail tension of 2025.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00487" y="2303959"/>
            <a:ext cx="4835305" cy="5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+6.8%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31908" y="3031034"/>
            <a:ext cx="537256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Transaction Volume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31908" y="3385939"/>
            <a:ext cx="5372561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H1 → H2: 31,109 to 33,221 visits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55804" y="2303959"/>
            <a:ext cx="4835305" cy="5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-10.0%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187226" y="3031034"/>
            <a:ext cx="537256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Avg Basket Value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187226" y="3385939"/>
            <a:ext cx="5372561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H1 R290.01 → H2 R261.10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00487" y="4006453"/>
            <a:ext cx="4835305" cy="5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-10.6%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31908" y="4733528"/>
            <a:ext cx="537256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Items per Basket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31908" y="5088434"/>
            <a:ext cx="5372561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H1 14.22 items → H2 12.72 items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55804" y="4006453"/>
            <a:ext cx="4835305" cy="5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-3.9%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187226" y="4733528"/>
            <a:ext cx="537256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Sample Basket Total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187226" y="5088434"/>
            <a:ext cx="5372561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R9.02m → R8.67m (sample only)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1908" y="5499894"/>
            <a:ext cx="10927878" cy="605830"/>
          </a:xfrm>
          <a:prstGeom prst="roundRect">
            <a:avLst>
              <a:gd name="adj" fmla="val 40232"/>
            </a:avLst>
          </a:prstGeom>
          <a:solidFill>
            <a:srgbClr val="FCF2B5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25" y="5709543"/>
            <a:ext cx="203096" cy="16242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59838" y="5686623"/>
            <a:ext cx="10847116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 is not traffic — it is value per trip. Higher footfall is masking a material deterioration in basket quality.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766862"/>
            <a:ext cx="964084" cy="178098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702253" y="801985"/>
            <a:ext cx="1432981" cy="10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ANALYSIS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31908" y="975420"/>
            <a:ext cx="10927878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Basket Value Fell Every Single Month of 2025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1908" y="1475879"/>
            <a:ext cx="1153746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R299.82 in January to R248.56 in December — an unbroken 12-month decline of </a:t>
            </a: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17.1%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while transaction volume remained broadly strong throughout the year.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716484"/>
            <a:ext cx="7103091" cy="39790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1908" y="5781278"/>
            <a:ext cx="10927878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what: Basket value declined every month without exception — this is a structural trend, not a seasonal blip. Transaction volume (bars, scaled to 00s) held firm, confirming the traffic-vs-value divergence.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1226840"/>
            <a:ext cx="1438437" cy="205680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713067" y="1267420"/>
            <a:ext cx="1885704" cy="1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H1 VS H2 COMPARISON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31908" y="1473101"/>
            <a:ext cx="10927878" cy="44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H2 Baskets Are 10% Lower in Value and 10.6% Smaller in Item Count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185095"/>
            <a:ext cx="3974008" cy="2861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908" y="5160566"/>
            <a:ext cx="5298744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what: A R28.91 average basket drop in six months represents a significant and consistent value erosion.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392" y="2185095"/>
            <a:ext cx="3974008" cy="28612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7392" y="5160566"/>
            <a:ext cx="5298744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what: Customers are not just spending less — they are buying fewer products per trip, pointing to changed shopping intent.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1419523"/>
            <a:ext cx="913385" cy="178098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702253" y="1454646"/>
            <a:ext cx="1382281" cy="10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31908" y="1628080"/>
            <a:ext cx="10927878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Decline Is National, but Gauteng and Large Stores Are the Pressure Points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1908" y="2204740"/>
            <a:ext cx="5320770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H1→H2 Decline by Province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483445"/>
            <a:ext cx="3458481" cy="2490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1908" y="5060156"/>
            <a:ext cx="5930355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what: Gauteng shows the steepest decline at -11.6%, warranting priority intervention.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45366" y="2204740"/>
            <a:ext cx="5320770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H1→H2 Decline by Store Format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66" y="2483445"/>
            <a:ext cx="3458481" cy="249098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45366" y="5060156"/>
            <a:ext cx="5320770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what: Large-format stores — with the highest basket potential — are losing the most value per trip.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1016000"/>
            <a:ext cx="1501837" cy="205680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713067" y="1056580"/>
            <a:ext cx="1949104" cy="1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BEHAVIOUR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31908" y="1262261"/>
            <a:ext cx="10927878" cy="44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Non-Loyalty Shoppers Show the Sharpest Basket Deterioration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974255"/>
            <a:ext cx="3974008" cy="2861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908" y="4949726"/>
            <a:ext cx="5298744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what: Non-loyalty shoppers declined -12.3% vs -7.0% for loyalty members — they are both more volatile and more vulnerable to competitor alternatives.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67392" y="1961555"/>
            <a:ext cx="5298744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Observations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7392" y="2298502"/>
            <a:ext cx="5298744" cy="10122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7971" y="2452886"/>
            <a:ext cx="4913785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Loyalty Buffer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97971" y="2777133"/>
            <a:ext cx="4913785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Loyalty members maintained larger baskets across both halves and declined at nearly half the rate of non-members.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7392" y="3412232"/>
            <a:ext cx="5298744" cy="12018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97971" y="3566616"/>
            <a:ext cx="4913785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Non-Loyalty Risk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497971" y="3890863"/>
            <a:ext cx="4913785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Non-loyalty baskets fell R34.13 in H2 — these shoppers have no programme incentive to stay. Conversion to loyalty is an immediate lever.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7392" y="4715570"/>
            <a:ext cx="5298744" cy="10122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97971" y="4869954"/>
            <a:ext cx="4913785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Items Mirror Value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497971" y="5194201"/>
            <a:ext cx="4913785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Non-loyalty items fell from 13.57 to 11.82; loyalty from 15.01 to 13.88 — both groups are buying fewer products.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1197570"/>
            <a:ext cx="1565930" cy="178098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702253" y="1232694"/>
            <a:ext cx="2034826" cy="10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HYPOTHESIS 1 · COMPETITION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31908" y="1406128"/>
            <a:ext cx="10927878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Competitive Exposure Aligns With a Materially Steeper Basket Decline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992313"/>
            <a:ext cx="3458481" cy="24909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908" y="4569023"/>
            <a:ext cx="5320770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what: Exposed stores declined -15.8% vs -7.2% for non-exposed — more than double the rate.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45366" y="1982788"/>
            <a:ext cx="5320770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Before vs After Competitor Opening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66" y="2261493"/>
            <a:ext cx="3458481" cy="24909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45366" y="4838204"/>
            <a:ext cx="5320770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what: A -18.2% basket drop around recorded competitor openings is the strongest single signal in this dataset.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31908" y="5302250"/>
            <a:ext cx="10927878" cy="358180"/>
          </a:xfrm>
          <a:prstGeom prst="roundRect">
            <a:avLst>
              <a:gd name="adj" fmla="val 49147"/>
            </a:avLst>
          </a:prstGeom>
          <a:solidFill>
            <a:srgbClr val="B6D6F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82" y="5412978"/>
            <a:ext cx="146642" cy="1172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13097" y="5407720"/>
            <a:ext cx="1103900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Association, not causal proof. Competitor-exposed stores may differ in location, demographics or format. Controlled analysis with matched stores is needed to confirm causation.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98401"/>
            <a:ext cx="1783611" cy="205680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713067" y="738981"/>
            <a:ext cx="2230878" cy="1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HYPOTHESIS 2 · AVAILABILITY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31908" y="944662"/>
            <a:ext cx="10927878" cy="89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Stockout Days Are Associated With 15.7% Lower Basket Value and 16.1% Fewer Items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102148"/>
            <a:ext cx="3974008" cy="2861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908" y="5077619"/>
            <a:ext cx="5298744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what: 119 stockout events affecting 606 store-days show materially smaller baskets — empty shelves likely cut short the shopping trip.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67392" y="2089448"/>
            <a:ext cx="5298744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Stockout Context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7392" y="2426395"/>
            <a:ext cx="5298744" cy="10122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7971" y="2580779"/>
            <a:ext cx="4913785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Scale of the Problem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97971" y="2905026"/>
            <a:ext cx="4913785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119 stockout events recorded across 42 stores, generating 606 affected store-days in the sample period.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7392" y="3540125"/>
            <a:ext cx="5298744" cy="12018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97971" y="3694509"/>
            <a:ext cx="4913785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Basket Gap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497971" y="4018756"/>
            <a:ext cx="4913785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R43.25 average basket gap between stockout and non-stockout days — a significant per-trip value loss that compounds across high-frequency categories.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7392" y="4843463"/>
            <a:ext cx="5298744" cy="120183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97971" y="4997847"/>
            <a:ext cx="4913785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Caveat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497971" y="5322094"/>
            <a:ext cx="4913785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Association only. Stockout days may coincide with other factors (e.g. competitor promotions, weekend traffic). Root-cause review per store-day is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10394"/>
            <a:ext cx="1407383" cy="191988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707710" y="648295"/>
            <a:ext cx="1865365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ROOT CAUSE &amp; ACTIONS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31908" y="837704"/>
            <a:ext cx="10927878" cy="415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Two High-Priority Hypotheses, Four Targeted Interventions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1908" y="1474490"/>
            <a:ext cx="530975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Hypothesis Scorecard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1781870"/>
          <a:ext cx="5309757" cy="2463342"/>
        </p:xfrm>
        <a:graphic>
          <a:graphicData uri="http://schemas.openxmlformats.org/drawingml/2006/table">
            <a:tbl>
              <a:tblPr/>
              <a:tblGrid>
                <a:gridCol w="185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9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Hypothesis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Status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Evidence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Competition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 Priority</a:t>
                      </a:r>
                      <a:endParaRPr lang="en-US" sz="9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Exposed stores -15.8%; before/after -18.2%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Availability / Stockouts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 Priority</a:t>
                      </a:r>
                      <a:endParaRPr lang="en-US" sz="9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Stockout days -15.7% basket value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Behaviour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 Contributor</a:t>
                      </a:r>
                      <a:endParaRPr lang="en-US" sz="9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Non-loyalty -12.3%; loyalty -7.0%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 Untestable</a:t>
                      </a:r>
                      <a:endParaRPr lang="en-US" sz="9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 item-level price data in dataset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7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Payment / Day-of-Week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 Secondary</a:t>
                      </a:r>
                      <a:endParaRPr lang="en-US" sz="9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8465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 material effect identified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6383" marR="12638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56379" y="1474490"/>
            <a:ext cx="530975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Prioritised Actions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56379" y="1781870"/>
            <a:ext cx="252704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56379" y="1983879"/>
            <a:ext cx="5309757" cy="1270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6" name="Text 7"/>
          <p:cNvSpPr/>
          <p:nvPr/>
        </p:nvSpPr>
        <p:spPr>
          <a:xfrm>
            <a:off x="6256379" y="2072382"/>
            <a:ext cx="530975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Competitive Store Response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56379" y="2368649"/>
            <a:ext cx="5309757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Targeted value bundles and key-value-item price checks in exposed stores. </a:t>
            </a:r>
            <a:r>
              <a:rPr lang="en-US" sz="9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Owner: Pricing + Merchandising.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56379" y="2895501"/>
            <a:ext cx="252704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56379" y="3084909"/>
            <a:ext cx="5309757" cy="1270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4" name="Text 11"/>
          <p:cNvSpPr/>
          <p:nvPr/>
        </p:nvSpPr>
        <p:spPr>
          <a:xfrm>
            <a:off x="6256379" y="3186013"/>
            <a:ext cx="530975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Stockout Control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56379" y="3482280"/>
            <a:ext cx="5309757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High-impact category alerts, replenishment thresholds and store-day root-cause reviews. </a:t>
            </a:r>
            <a:r>
              <a:rPr lang="en-US" sz="9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Owner: Operations + Supply Chain.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56379" y="4009132"/>
            <a:ext cx="252704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56379" y="4185940"/>
            <a:ext cx="5309757" cy="1270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8" name="Text 15"/>
          <p:cNvSpPr/>
          <p:nvPr/>
        </p:nvSpPr>
        <p:spPr>
          <a:xfrm>
            <a:off x="6256379" y="4299645"/>
            <a:ext cx="530975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Basket-Building Programme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56379" y="4595912"/>
            <a:ext cx="5309757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Cross-category bundles, add-on prompts and loyalty conversion offers targeting non-loyalty shoppers. </a:t>
            </a:r>
            <a:r>
              <a:rPr lang="en-US" sz="9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Owner: CRM + Merchandising.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256379" y="5122763"/>
            <a:ext cx="252704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56379" y="5286970"/>
            <a:ext cx="5309757" cy="12700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22" name="Text 19"/>
          <p:cNvSpPr/>
          <p:nvPr/>
        </p:nvSpPr>
        <p:spPr>
          <a:xfrm>
            <a:off x="6256379" y="5413276"/>
            <a:ext cx="530975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Gauteng Pilot First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56379" y="5709543"/>
            <a:ext cx="5309757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all interventions in highest-impact Gauteng stores with matched controls before national rollout.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23987"/>
            <a:ext cx="840163" cy="260548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734796" y="675382"/>
            <a:ext cx="1243974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1908" y="949623"/>
            <a:ext cx="10927878" cy="564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Protect the Basket, Not Just the Footfall.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631908" y="1758156"/>
            <a:ext cx="3533984" cy="2086074"/>
          </a:xfrm>
          <a:prstGeom prst="roundRect">
            <a:avLst>
              <a:gd name="adj" fmla="val 12333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704" y="1935956"/>
            <a:ext cx="3178393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The Decline Is Real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09704" y="2328466"/>
            <a:ext cx="3178393" cy="1337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basket value fell from R299.82 to R248.56 across all provinces, formats and customer segments — an unbroken 12-month structural trend.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8806" y="1758156"/>
            <a:ext cx="3533984" cy="2086074"/>
          </a:xfrm>
          <a:prstGeom prst="roundRect">
            <a:avLst>
              <a:gd name="adj" fmla="val 12333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6601" y="1935956"/>
            <a:ext cx="3178393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Two Actionable Hypotheses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506601" y="2328466"/>
            <a:ext cx="3178393" cy="1337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exposure (-15.8% decline) and stockout days (-15.7% basket gap) are the strongest, most actionable signals in the current data.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25703" y="1758156"/>
            <a:ext cx="3533984" cy="2086074"/>
          </a:xfrm>
          <a:prstGeom prst="roundRect">
            <a:avLst>
              <a:gd name="adj" fmla="val 12333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03499" y="1935956"/>
            <a:ext cx="3178393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Test Before You Scale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203499" y="2328466"/>
            <a:ext cx="3178393" cy="1337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 targeted interventions in Gauteng with matched controls. Measure weekly: avg basket value, items/basket, volume, stockout hours and competitor gap.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1908" y="4070350"/>
            <a:ext cx="10927878" cy="19050"/>
          </a:xfrm>
          <a:prstGeom prst="roundRect">
            <a:avLst>
              <a:gd name="adj" fmla="val 49999"/>
            </a:avLst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31908" y="4376638"/>
            <a:ext cx="10927878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Analytical Limitations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31908" y="5049738"/>
            <a:ext cx="5254692" cy="1127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Sample transactions: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revenue totals are not FreshMart's exact chain turnover</a:t>
            </a:r>
            <a:endParaRPr lang="en-US" sz="1350" dirty="0"/>
          </a:p>
          <a:p>
            <a:pPr marL="274320" indent="-274320" algn="l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Association ≠ causation: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all hypotheses require controlled testing to confirm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11444" y="5049738"/>
            <a:ext cx="5254692" cy="1127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Pricing untestable: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item-level price and margin data are needed to evaluate pricing as a root cause</a:t>
            </a:r>
            <a:endParaRPr lang="en-US" sz="1350" dirty="0"/>
          </a:p>
          <a:p>
            <a:pPr marL="274320" indent="-274320" algn="l">
              <a:lnSpc>
                <a:spcPct val="1300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Measurement plan: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weekly dashboard tracking basket KPIs, treatment vs control stores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</Words>
  <Application>Microsoft Office PowerPoint</Application>
  <PresentationFormat>Widescreen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Montserrat</vt:lpstr>
      <vt:lpstr>Montserrat Bold</vt:lpstr>
      <vt:lpstr>Barlow Light</vt:lpstr>
      <vt:lpstr>Twemoji Mozilla, Apple Color Emoji, Segoe UI Emoji, Segoe UI Symbol, Noto Color Emoji, EmojiOne Color, Android Emoji, sans-serif</vt:lpstr>
      <vt:lpstr>Twemoji Mozilla</vt:lpstr>
      <vt:lpstr>Barlow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Treasury National Office</dc:creator>
  <cp:lastModifiedBy>Treasury National Office</cp:lastModifiedBy>
  <cp:revision>1</cp:revision>
  <dcterms:created xsi:type="dcterms:W3CDTF">2026-09-13T20:17:32Z</dcterms:created>
  <dcterms:modified xsi:type="dcterms:W3CDTF">2026-09-13T20:18:13Z</dcterms:modified>
</cp:coreProperties>
</file>